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3" r:id="rId14"/>
    <p:sldId id="26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son, Jonathan E" userId="45051804-58b2-4d88-ad56-113636227f53" providerId="ADAL" clId="{4C9F74F7-03D0-45E6-B48E-95E9FE626314}"/>
    <pc:docChg chg="undo custSel addSld modSld sldOrd">
      <pc:chgData name="Jackson, Jonathan E" userId="45051804-58b2-4d88-ad56-113636227f53" providerId="ADAL" clId="{4C9F74F7-03D0-45E6-B48E-95E9FE626314}" dt="2024-10-18T13:57:03.628" v="1803" actId="207"/>
      <pc:docMkLst>
        <pc:docMk/>
      </pc:docMkLst>
      <pc:sldChg chg="addSp delSp modSp add mod modClrScheme chgLayout">
        <pc:chgData name="Jackson, Jonathan E" userId="45051804-58b2-4d88-ad56-113636227f53" providerId="ADAL" clId="{4C9F74F7-03D0-45E6-B48E-95E9FE626314}" dt="2024-10-18T13:38:20.421" v="800" actId="20577"/>
        <pc:sldMkLst>
          <pc:docMk/>
          <pc:sldMk cId="877306329" sldId="263"/>
        </pc:sldMkLst>
      </pc:sldChg>
      <pc:sldChg chg="addSp modSp add mod">
        <pc:chgData name="Jackson, Jonathan E" userId="45051804-58b2-4d88-ad56-113636227f53" providerId="ADAL" clId="{4C9F74F7-03D0-45E6-B48E-95E9FE626314}" dt="2024-10-18T13:38:14.316" v="779" actId="20577"/>
        <pc:sldMkLst>
          <pc:docMk/>
          <pc:sldMk cId="3619884926" sldId="264"/>
        </pc:sldMkLst>
      </pc:sldChg>
      <pc:sldChg chg="addSp delSp modSp new mod modClrScheme chgLayout">
        <pc:chgData name="Jackson, Jonathan E" userId="45051804-58b2-4d88-ad56-113636227f53" providerId="ADAL" clId="{4C9F74F7-03D0-45E6-B48E-95E9FE626314}" dt="2024-10-18T13:37:38.510" v="766" actId="20577"/>
        <pc:sldMkLst>
          <pc:docMk/>
          <pc:sldMk cId="3687077232" sldId="265"/>
        </pc:sldMkLst>
      </pc:sldChg>
      <pc:sldChg chg="addSp delSp modSp add mod ord">
        <pc:chgData name="Jackson, Jonathan E" userId="45051804-58b2-4d88-ad56-113636227f53" providerId="ADAL" clId="{4C9F74F7-03D0-45E6-B48E-95E9FE626314}" dt="2024-10-18T13:45:21.773" v="1307" actId="207"/>
        <pc:sldMkLst>
          <pc:docMk/>
          <pc:sldMk cId="1216359841" sldId="266"/>
        </pc:sldMkLst>
      </pc:sldChg>
      <pc:sldChg chg="modSp new mod ord">
        <pc:chgData name="Jackson, Jonathan E" userId="45051804-58b2-4d88-ad56-113636227f53" providerId="ADAL" clId="{4C9F74F7-03D0-45E6-B48E-95E9FE626314}" dt="2024-10-18T13:57:03.628" v="1803" actId="207"/>
        <pc:sldMkLst>
          <pc:docMk/>
          <pc:sldMk cId="404246895" sldId="267"/>
        </pc:sldMkLst>
      </pc:sldChg>
    </pc:docChg>
  </pc:docChgLst>
  <pc:docChgLst>
    <pc:chgData name="Jackson, Jonathan E" userId="45051804-58b2-4d88-ad56-113636227f53" providerId="ADAL" clId="{A3104D0F-36CE-431A-A817-93ED86C74725}"/>
    <pc:docChg chg="modSld">
      <pc:chgData name="Jackson, Jonathan E" userId="45051804-58b2-4d88-ad56-113636227f53" providerId="ADAL" clId="{A3104D0F-36CE-431A-A817-93ED86C74725}" dt="2025-01-30T13:34:00.141" v="7" actId="20577"/>
      <pc:docMkLst>
        <pc:docMk/>
      </pc:docMkLst>
      <pc:sldChg chg="modSp mod">
        <pc:chgData name="Jackson, Jonathan E" userId="45051804-58b2-4d88-ad56-113636227f53" providerId="ADAL" clId="{A3104D0F-36CE-431A-A817-93ED86C74725}" dt="2025-01-30T13:34:00.141" v="7" actId="20577"/>
        <pc:sldMkLst>
          <pc:docMk/>
          <pc:sldMk cId="404246895" sldId="267"/>
        </pc:sldMkLst>
        <pc:spChg chg="mod">
          <ac:chgData name="Jackson, Jonathan E" userId="45051804-58b2-4d88-ad56-113636227f53" providerId="ADAL" clId="{A3104D0F-36CE-431A-A817-93ED86C74725}" dt="2025-01-30T13:34:00.141" v="7" actId="20577"/>
          <ac:spMkLst>
            <pc:docMk/>
            <pc:sldMk cId="404246895" sldId="267"/>
            <ac:spMk id="3" creationId="{8A111EDB-6283-2FFD-65E7-A22F933EFC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9282" y="139582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5626"/>
            <a:ext cx="9144000" cy="94217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0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736" y="1431353"/>
            <a:ext cx="11665009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8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443375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920" y="258229"/>
            <a:ext cx="2674834" cy="7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8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3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1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1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5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57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6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4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409346"/>
            <a:ext cx="12192000" cy="472570"/>
          </a:xfrm>
          <a:prstGeom prst="rect">
            <a:avLst/>
          </a:prstGeom>
          <a:solidFill>
            <a:srgbClr val="F0E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1267955"/>
          </a:xfrm>
          <a:prstGeom prst="rect">
            <a:avLst/>
          </a:prstGeom>
          <a:solidFill>
            <a:srgbClr val="F0E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191" y="104772"/>
            <a:ext cx="8964538" cy="1048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737" y="14313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073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ED0F7-AD08-4F61-B875-CFAC07F2E432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3882" y="64909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68627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36D16-30E5-40F1-B021-DAFC4490A73A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267954"/>
            <a:ext cx="12192000" cy="0"/>
          </a:xfrm>
          <a:prstGeom prst="line">
            <a:avLst/>
          </a:prstGeom>
          <a:ln w="57150">
            <a:solidFill>
              <a:srgbClr val="CA3B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6409346"/>
            <a:ext cx="12192000" cy="0"/>
          </a:xfrm>
          <a:prstGeom prst="line">
            <a:avLst/>
          </a:prstGeom>
          <a:ln w="28575">
            <a:solidFill>
              <a:srgbClr val="CA3B2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920" y="258229"/>
            <a:ext cx="2674834" cy="7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2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Sub-Categories Need to Go?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5625"/>
            <a:ext cx="9144000" cy="1515831"/>
          </a:xfrm>
        </p:spPr>
        <p:txBody>
          <a:bodyPr/>
          <a:lstStyle/>
          <a:p>
            <a:r>
              <a:rPr lang="en-US" dirty="0"/>
              <a:t>Analysis for Superstore</a:t>
            </a:r>
          </a:p>
          <a:p>
            <a:endParaRPr lang="en-US" dirty="0"/>
          </a:p>
          <a:p>
            <a:r>
              <a:rPr lang="en-US" sz="1800" i="1" dirty="0"/>
              <a:t>Analyst</a:t>
            </a:r>
            <a:r>
              <a:rPr lang="en-US" sz="1800" dirty="0"/>
              <a:t>: Jon Jackson </a:t>
            </a:r>
          </a:p>
        </p:txBody>
      </p:sp>
    </p:spTree>
    <p:extLst>
      <p:ext uri="{BB962C8B-B14F-4D97-AF65-F5344CB8AC3E}">
        <p14:creationId xmlns:p14="http://schemas.microsoft.com/office/powerpoint/2010/main" val="3964813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Superstore wants to streamline their sub-category offerings by trimming 2-3 underperforming sub-categories</a:t>
            </a:r>
            <a:endParaRPr lang="en-US" b="1" dirty="0"/>
          </a:p>
          <a:p>
            <a:endParaRPr lang="en-US" dirty="0"/>
          </a:p>
          <a:p>
            <a:r>
              <a:rPr lang="en-US" b="1" dirty="0"/>
              <a:t>Data Analyzed</a:t>
            </a:r>
            <a:r>
              <a:rPr lang="en-US" dirty="0"/>
              <a:t>: 2012-2015 global retail orders (51,290 total orders)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677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of Superstore’s sub-categories were evaluated on the following criteria: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Total Number of Orders</a:t>
            </a:r>
          </a:p>
          <a:p>
            <a:pPr lvl="2"/>
            <a:r>
              <a:rPr lang="en-US" i="1" dirty="0"/>
              <a:t>Goal: identify poor selling sub-categories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Average Discount Rate</a:t>
            </a:r>
          </a:p>
          <a:p>
            <a:pPr lvl="2"/>
            <a:r>
              <a:rPr lang="en-US" i="1" dirty="0"/>
              <a:t>Goal: identify sub-categories that require high discount rates to clear inventory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Profit-to-Sales Ratio</a:t>
            </a:r>
          </a:p>
          <a:p>
            <a:pPr lvl="2"/>
            <a:r>
              <a:rPr lang="en-US" i="1" dirty="0"/>
              <a:t>Goal: utilize combined metric of sales (revenue) and profit to evaluate each sub-categories performance</a:t>
            </a:r>
          </a:p>
        </p:txBody>
      </p:sp>
    </p:spTree>
    <p:extLst>
      <p:ext uri="{BB962C8B-B14F-4D97-AF65-F5344CB8AC3E}">
        <p14:creationId xmlns:p14="http://schemas.microsoft.com/office/powerpoint/2010/main" val="165639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Least Popular Sub-Categories?</a:t>
            </a:r>
            <a:br>
              <a:rPr lang="en-US" dirty="0"/>
            </a:br>
            <a:r>
              <a:rPr lang="en-US" sz="2800" b="1" dirty="0">
                <a:solidFill>
                  <a:srgbClr val="C00000"/>
                </a:solidFill>
              </a:rPr>
              <a:t>Tables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Machines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78" y="1392473"/>
            <a:ext cx="857369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1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736" y="1431353"/>
            <a:ext cx="6929189" cy="462439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Superstore averages a </a:t>
            </a:r>
            <a:r>
              <a:rPr lang="en-US" b="1" dirty="0"/>
              <a:t>14.3%</a:t>
            </a:r>
            <a:r>
              <a:rPr lang="en-US" dirty="0"/>
              <a:t> discount rate</a:t>
            </a:r>
          </a:p>
          <a:p>
            <a:endParaRPr lang="en-US" dirty="0"/>
          </a:p>
          <a:p>
            <a:r>
              <a:rPr lang="en-US" dirty="0"/>
              <a:t>Three sub-categories stand out negatively with high discount rates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Tables</a:t>
            </a:r>
            <a:r>
              <a:rPr lang="en-US" dirty="0"/>
              <a:t> (29.1%)</a:t>
            </a:r>
          </a:p>
          <a:p>
            <a:pPr lvl="1"/>
            <a:r>
              <a:rPr lang="en-US" dirty="0"/>
              <a:t>Binders (17.9%)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Machines</a:t>
            </a:r>
            <a:r>
              <a:rPr lang="en-US" dirty="0"/>
              <a:t> (17.0%)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5" y="1431353"/>
            <a:ext cx="4763165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48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Lowest Profit-to-Sales Sub-Categories?</a:t>
            </a:r>
            <a:br>
              <a:rPr lang="en-US" dirty="0"/>
            </a:br>
            <a:r>
              <a:rPr lang="en-US" sz="2800" b="1" dirty="0">
                <a:solidFill>
                  <a:srgbClr val="C00000"/>
                </a:solidFill>
              </a:rPr>
              <a:t>Tables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Machines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87" y="1426979"/>
            <a:ext cx="9526329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3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Drop Tables</a:t>
            </a:r>
          </a:p>
          <a:p>
            <a:pPr lvl="1"/>
            <a:r>
              <a:rPr lang="en-US" dirty="0"/>
              <a:t>Only unprofitable sub-category in current offerings</a:t>
            </a:r>
          </a:p>
          <a:p>
            <a:pPr lvl="1"/>
            <a:r>
              <a:rPr lang="en-US" dirty="0"/>
              <a:t>Highest discount rate (29.1%)</a:t>
            </a:r>
          </a:p>
          <a:p>
            <a:pPr lvl="1"/>
            <a:r>
              <a:rPr lang="en-US" dirty="0"/>
              <a:t>Lowest number of orders (861)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Drop Machines</a:t>
            </a:r>
          </a:p>
          <a:p>
            <a:pPr lvl="1"/>
            <a:r>
              <a:rPr lang="en-US" dirty="0"/>
              <a:t>Second lowest profit-to-sales ratio (8%)</a:t>
            </a:r>
          </a:p>
          <a:p>
            <a:pPr lvl="1"/>
            <a:r>
              <a:rPr lang="en-US" dirty="0"/>
              <a:t>Above average discount rate (17%)</a:t>
            </a:r>
          </a:p>
          <a:p>
            <a:pPr lvl="1"/>
            <a:r>
              <a:rPr lang="en-US" dirty="0"/>
              <a:t>Second lowest number of orders (1,486)</a:t>
            </a:r>
          </a:p>
        </p:txBody>
      </p:sp>
    </p:spTree>
    <p:extLst>
      <p:ext uri="{BB962C8B-B14F-4D97-AF65-F5344CB8AC3E}">
        <p14:creationId xmlns:p14="http://schemas.microsoft.com/office/powerpoint/2010/main" val="399537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7F6E08-CD42-6BB1-7AC6-19CE6170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68707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ED45-6DD8-0E98-3F61-66490B752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FB69-B267-F1FD-6C56-2B882915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sub-categories are expensive to ship?</a:t>
            </a:r>
            <a:br>
              <a:rPr lang="en-US" dirty="0"/>
            </a:br>
            <a:r>
              <a:rPr lang="en-US" sz="2800" b="1" i="1" dirty="0">
                <a:solidFill>
                  <a:srgbClr val="C00000"/>
                </a:solidFill>
              </a:rPr>
              <a:t>Tables</a:t>
            </a:r>
            <a:r>
              <a:rPr lang="en-US" sz="2800" i="1" dirty="0"/>
              <a:t> and </a:t>
            </a:r>
            <a:r>
              <a:rPr lang="en-US" sz="2800" b="1" i="1" dirty="0">
                <a:solidFill>
                  <a:srgbClr val="C00000"/>
                </a:solidFill>
              </a:rPr>
              <a:t>Machines</a:t>
            </a:r>
            <a:r>
              <a:rPr lang="en-US" sz="2800" i="1" dirty="0"/>
              <a:t> are both in the Top 6</a:t>
            </a:r>
            <a:endParaRPr lang="en-US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D602EC-BD19-C7D4-F473-1E152327D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81657"/>
              </p:ext>
            </p:extLst>
          </p:nvPr>
        </p:nvGraphicFramePr>
        <p:xfrm>
          <a:off x="1317811" y="1759596"/>
          <a:ext cx="9188824" cy="277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777">
                  <a:extLst>
                    <a:ext uri="{9D8B030D-6E8A-4147-A177-3AD203B41FA5}">
                      <a16:colId xmlns:a16="http://schemas.microsoft.com/office/drawing/2014/main" val="1804540272"/>
                    </a:ext>
                  </a:extLst>
                </a:gridCol>
                <a:gridCol w="2178424">
                  <a:extLst>
                    <a:ext uri="{9D8B030D-6E8A-4147-A177-3AD203B41FA5}">
                      <a16:colId xmlns:a16="http://schemas.microsoft.com/office/drawing/2014/main" val="4197370782"/>
                    </a:ext>
                  </a:extLst>
                </a:gridCol>
                <a:gridCol w="2624417">
                  <a:extLst>
                    <a:ext uri="{9D8B030D-6E8A-4147-A177-3AD203B41FA5}">
                      <a16:colId xmlns:a16="http://schemas.microsoft.com/office/drawing/2014/main" val="2474444905"/>
                    </a:ext>
                  </a:extLst>
                </a:gridCol>
                <a:gridCol w="2297206">
                  <a:extLst>
                    <a:ext uri="{9D8B030D-6E8A-4147-A177-3AD203B41FA5}">
                      <a16:colId xmlns:a16="http://schemas.microsoft.com/office/drawing/2014/main" val="841418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Sub-Category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Orders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Shipping Cost/Order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Total Shipping Cost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345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Tables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861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$93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$79,863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8570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Copiers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2,223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$72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$159,501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06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Bookcases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2,411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$64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$155,488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774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Appliances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1,742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$62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$108,308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237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Phones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3,357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$184,953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758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Machines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1,486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$53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$79,150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700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359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05C05-C54C-549C-DD20-83EF4818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6DA0-4A27-C4B9-6E27-C2D75206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TABLES: </a:t>
            </a:r>
            <a:r>
              <a:rPr lang="en-US" dirty="0"/>
              <a:t>Potential Lost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3405-7374-DE5F-EDED-994D098F1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Top Customers to Contact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6CB67C-35BB-CD13-6924-129675EE1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773429"/>
              </p:ext>
            </p:extLst>
          </p:nvPr>
        </p:nvGraphicFramePr>
        <p:xfrm>
          <a:off x="2032000" y="1611433"/>
          <a:ext cx="8127999" cy="140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033135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615280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1603211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Number of Customers*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0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3+ orders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10+ units purchased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$5,000+ purchased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90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latin typeface="+mj-lt"/>
                        </a:rPr>
                        <a:t>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94974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78B7CA-245D-396C-C5DC-E3EEA8C22ED3}"/>
              </a:ext>
            </a:extLst>
          </p:cNvPr>
          <p:cNvSpPr txBox="1"/>
          <p:nvPr/>
        </p:nvSpPr>
        <p:spPr>
          <a:xfrm>
            <a:off x="10300447" y="6535271"/>
            <a:ext cx="1721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*Statistics </a:t>
            </a:r>
            <a:r>
              <a:rPr lang="en-US" sz="1200" i="1" u="sng" dirty="0"/>
              <a:t>only for</a:t>
            </a:r>
            <a:r>
              <a:rPr lang="en-US" sz="1200" i="1" dirty="0"/>
              <a:t> tables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F06C55-902C-9E95-01E1-23F092272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44973"/>
              </p:ext>
            </p:extLst>
          </p:nvPr>
        </p:nvGraphicFramePr>
        <p:xfrm>
          <a:off x="2031999" y="3839408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045402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73707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744449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41418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Customer ID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Table Quantity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Table Sales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Sales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345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JS-1603059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$4,552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$5,489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8570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NP-187001404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$4,375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$5,564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06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CP-123401406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$3,265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$4,164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7742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556F0A6-13D0-C5FD-13F9-F5D79B1EA944}"/>
              </a:ext>
            </a:extLst>
          </p:cNvPr>
          <p:cNvSpPr txBox="1"/>
          <p:nvPr/>
        </p:nvSpPr>
        <p:spPr>
          <a:xfrm>
            <a:off x="6974541" y="5335405"/>
            <a:ext cx="3406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Top overall customers have $10,000+ in total sales</a:t>
            </a:r>
          </a:p>
        </p:txBody>
      </p:sp>
    </p:spTree>
    <p:extLst>
      <p:ext uri="{BB962C8B-B14F-4D97-AF65-F5344CB8AC3E}">
        <p14:creationId xmlns:p14="http://schemas.microsoft.com/office/powerpoint/2010/main" val="87730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BAE91-9DE6-6D12-529C-C7C5DA73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FF9F-06E5-5713-899C-6804B40F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MACHINES: </a:t>
            </a:r>
            <a:r>
              <a:rPr lang="en-US" dirty="0"/>
              <a:t>Potential Lost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8F3E-8AD3-103A-6621-2CDFE1E51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Top Customers to Contact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A272EB-EAE4-5A15-F98F-2973E2CBF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972111"/>
              </p:ext>
            </p:extLst>
          </p:nvPr>
        </p:nvGraphicFramePr>
        <p:xfrm>
          <a:off x="2032000" y="1611433"/>
          <a:ext cx="8127999" cy="140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033135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615280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1603211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Number of Customers*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0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3+ orders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10+ units purchased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$5,000+ purchased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90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latin typeface="+mj-lt"/>
                        </a:rPr>
                        <a:t>37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C00000"/>
                          </a:solidFill>
                          <a:latin typeface="+mj-lt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94974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D8C64A-FF6F-50E8-BBD5-C5B758E1AB68}"/>
              </a:ext>
            </a:extLst>
          </p:cNvPr>
          <p:cNvSpPr txBox="1"/>
          <p:nvPr/>
        </p:nvSpPr>
        <p:spPr>
          <a:xfrm>
            <a:off x="9984658" y="6535271"/>
            <a:ext cx="2037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*Statistics </a:t>
            </a:r>
            <a:r>
              <a:rPr lang="en-US" sz="1200" i="1" u="sng" dirty="0"/>
              <a:t>only for</a:t>
            </a:r>
            <a:r>
              <a:rPr lang="en-US" sz="1200" i="1" dirty="0"/>
              <a:t> machines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A01BB4-4D5F-68E3-1F37-AF9A71EF9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740832"/>
              </p:ext>
            </p:extLst>
          </p:nvPr>
        </p:nvGraphicFramePr>
        <p:xfrm>
          <a:off x="2031999" y="3839408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045402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973707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744449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41418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Customer ID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Table Quantity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Table Sales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 Sales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345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SM-203201408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$23,459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$23,669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8570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BM-111401402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$8,159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$10,539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06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SB-202901402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$5,579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$5,579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17742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23C57D3-A23D-C8C3-5D37-CD5B82D10086}"/>
              </a:ext>
            </a:extLst>
          </p:cNvPr>
          <p:cNvSpPr txBox="1"/>
          <p:nvPr/>
        </p:nvSpPr>
        <p:spPr>
          <a:xfrm>
            <a:off x="6974541" y="5335405"/>
            <a:ext cx="3406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Top overall customers have $10,000+ in total sales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B0D01-8A3B-38FB-BE3D-5A08266B7228}"/>
              </a:ext>
            </a:extLst>
          </p:cNvPr>
          <p:cNvSpPr/>
          <p:nvPr/>
        </p:nvSpPr>
        <p:spPr>
          <a:xfrm>
            <a:off x="1902542" y="4203290"/>
            <a:ext cx="8478587" cy="7525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B1528-5026-7C82-BF2D-F80900AC4FD9}"/>
              </a:ext>
            </a:extLst>
          </p:cNvPr>
          <p:cNvSpPr txBox="1"/>
          <p:nvPr/>
        </p:nvSpPr>
        <p:spPr>
          <a:xfrm>
            <a:off x="10510586" y="4287192"/>
            <a:ext cx="1660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</a:rPr>
              <a:t>Top 10 Customers!</a:t>
            </a:r>
          </a:p>
        </p:txBody>
      </p:sp>
    </p:spTree>
    <p:extLst>
      <p:ext uri="{BB962C8B-B14F-4D97-AF65-F5344CB8AC3E}">
        <p14:creationId xmlns:p14="http://schemas.microsoft.com/office/powerpoint/2010/main" val="361988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35AC-01C8-F83A-A415-6A6B2CF6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Would other sub-categories suffer by cutting tables and machines? </a:t>
            </a:r>
            <a:r>
              <a:rPr lang="en-US" b="1" i="1" dirty="0">
                <a:solidFill>
                  <a:srgbClr val="C00000"/>
                </a:solidFill>
              </a:rPr>
              <a:t>No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11EDB-6283-2FFD-65E7-A22F933EF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736" y="1431352"/>
            <a:ext cx="11665009" cy="4984195"/>
          </a:xfrm>
        </p:spPr>
        <p:txBody>
          <a:bodyPr/>
          <a:lstStyle/>
          <a:p>
            <a:r>
              <a:rPr lang="en-US" dirty="0"/>
              <a:t>The 19 customers who ordered 10+ </a:t>
            </a:r>
            <a:r>
              <a:rPr lang="en-US" b="1" dirty="0">
                <a:solidFill>
                  <a:srgbClr val="C00000"/>
                </a:solidFill>
              </a:rPr>
              <a:t>tables</a:t>
            </a:r>
            <a:r>
              <a:rPr lang="en-US" dirty="0"/>
              <a:t> (232 tables in total) also ordered:</a:t>
            </a:r>
          </a:p>
          <a:p>
            <a:pPr lvl="1"/>
            <a:r>
              <a:rPr lang="en-US" dirty="0"/>
              <a:t>17 chairs</a:t>
            </a:r>
          </a:p>
          <a:p>
            <a:pPr lvl="1"/>
            <a:r>
              <a:rPr lang="en-US" dirty="0"/>
              <a:t>3 bookcases</a:t>
            </a:r>
          </a:p>
          <a:p>
            <a:pPr lvl="1"/>
            <a:r>
              <a:rPr lang="en-US" i="1" dirty="0"/>
              <a:t>No other significant sub-category had significant units sold with this group of customers</a:t>
            </a:r>
          </a:p>
          <a:p>
            <a:pPr lvl="1"/>
            <a:endParaRPr lang="en-US" dirty="0"/>
          </a:p>
          <a:p>
            <a:r>
              <a:rPr lang="en-US" dirty="0"/>
              <a:t>The 37 customers who ordered 10+ </a:t>
            </a:r>
            <a:r>
              <a:rPr lang="en-US" b="1" dirty="0">
                <a:solidFill>
                  <a:srgbClr val="C00000"/>
                </a:solidFill>
              </a:rPr>
              <a:t>machines</a:t>
            </a:r>
            <a:r>
              <a:rPr lang="en-US" dirty="0"/>
              <a:t> (414 machines in total) also ordered:</a:t>
            </a:r>
          </a:p>
          <a:p>
            <a:pPr lvl="1"/>
            <a:r>
              <a:rPr lang="en-US" dirty="0"/>
              <a:t>58 bookcases</a:t>
            </a:r>
          </a:p>
          <a:p>
            <a:pPr lvl="1"/>
            <a:r>
              <a:rPr lang="en-US" dirty="0"/>
              <a:t>45 copiers</a:t>
            </a:r>
          </a:p>
          <a:p>
            <a:pPr lvl="1"/>
            <a:r>
              <a:rPr lang="en-US" i="1" dirty="0"/>
              <a:t>No other significant sub-category had significant units sold with this group of customers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46895"/>
      </p:ext>
    </p:extLst>
  </p:cSld>
  <p:clrMapOvr>
    <a:masterClrMapping/>
  </p:clrMapOvr>
</p:sld>
</file>

<file path=ppt/theme/theme1.xml><?xml version="1.0" encoding="utf-8"?>
<a:theme xmlns:a="http://schemas.openxmlformats.org/drawingml/2006/main" name="Jackson_PCS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ackson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ckson_PCSB" id="{BE9CECD3-2F86-4EBC-AB67-13809AEB5D66}" vid="{DED0016C-09F8-4322-96B0-0C8A675F19B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7B30867C41544A1A7D3C55A3613DC" ma:contentTypeVersion="13" ma:contentTypeDescription="Create a new document." ma:contentTypeScope="" ma:versionID="7c9cff679b0842d35fc19c212dc910ab">
  <xsd:schema xmlns:xsd="http://www.w3.org/2001/XMLSchema" xmlns:xs="http://www.w3.org/2001/XMLSchema" xmlns:p="http://schemas.microsoft.com/office/2006/metadata/properties" xmlns:ns3="879b638a-f198-4877-98c9-bfc0e4c3aaf5" xmlns:ns4="3f310c42-c373-4c4a-9226-147ba82531ea" targetNamespace="http://schemas.microsoft.com/office/2006/metadata/properties" ma:root="true" ma:fieldsID="c11ce47ac05b8f2f7c395b6b66089afd" ns3:_="" ns4:_="">
    <xsd:import namespace="879b638a-f198-4877-98c9-bfc0e4c3aaf5"/>
    <xsd:import namespace="3f310c42-c373-4c4a-9226-147ba82531e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b638a-f198-4877-98c9-bfc0e4c3aaf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310c42-c373-4c4a-9226-147ba82531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65D6F-4D29-4477-BD73-886D1387C3BF}">
  <ds:schemaRefs>
    <ds:schemaRef ds:uri="http://schemas.microsoft.com/office/2006/documentManagement/types"/>
    <ds:schemaRef ds:uri="879b638a-f198-4877-98c9-bfc0e4c3aaf5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3f310c42-c373-4c4a-9226-147ba82531e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6EA926B-84E1-4F1F-935C-B6C9362A0D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b638a-f198-4877-98c9-bfc0e4c3aaf5"/>
    <ds:schemaRef ds:uri="3f310c42-c373-4c4a-9226-147ba82531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9D6C2-B0BF-44B5-B795-4850907A5B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Jackson_PCSB</Template>
  <TotalTime>116</TotalTime>
  <Words>479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Jackson_PCSB</vt:lpstr>
      <vt:lpstr>What Sub-Categories Need to Go?</vt:lpstr>
      <vt:lpstr>Background</vt:lpstr>
      <vt:lpstr>Evaluation Criteria</vt:lpstr>
      <vt:lpstr>Least Popular Sub-Categories? Tables and Machines</vt:lpstr>
      <vt:lpstr>Discount Analysis</vt:lpstr>
      <vt:lpstr>Lowest Profit-to-Sales Sub-Categories? Tables and Machines</vt:lpstr>
      <vt:lpstr>Recommendations</vt:lpstr>
      <vt:lpstr>Appendix</vt:lpstr>
      <vt:lpstr>What sub-categories are expensive to ship? Tables and Machines are both in the Top 6</vt:lpstr>
      <vt:lpstr>TABLES: Potential Lost Customers</vt:lpstr>
      <vt:lpstr>MACHINES: Potential Lost Customers</vt:lpstr>
      <vt:lpstr>Would other sub-categories suffer by cutting tables and machines? No</vt:lpstr>
    </vt:vector>
  </TitlesOfParts>
  <Company>Providence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Sub-Categories Need to Go?</dc:title>
  <dc:creator>Jackson, Jonathan E</dc:creator>
  <cp:lastModifiedBy>Jackson, Jonathan E</cp:lastModifiedBy>
  <cp:revision>7</cp:revision>
  <dcterms:created xsi:type="dcterms:W3CDTF">2022-10-04T19:20:44Z</dcterms:created>
  <dcterms:modified xsi:type="dcterms:W3CDTF">2025-01-30T13:34:04Z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0x0101005E17B30867C41544A1A7D3C55A3613DC</vt:lpwstr>
  </property>
</Properties>
</file>